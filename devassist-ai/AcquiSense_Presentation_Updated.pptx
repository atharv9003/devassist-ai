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854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005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DealGuard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 – AI-Powered M&amp;A Due Diligence Platform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3794760" cy="438912"/>
          </a:xfrm>
          <a:prstGeom prst="roundRect">
            <a:avLst>
              <a:gd name="adj" fmla="val 16667"/>
            </a:avLst>
          </a:prstGeom>
          <a:solidFill>
            <a:srgbClr val="16325A"/>
          </a:solidFill>
          <a:ln w="12700">
            <a:solidFill>
              <a:srgbClr val="1632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3520440"/>
            <a:ext cx="3666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Samradh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,Prashant ,Chirag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3520440"/>
            <a:ext cx="3794760" cy="438912"/>
          </a:xfrm>
          <a:prstGeom prst="roundRect">
            <a:avLst>
              <a:gd name="adj" fmla="val 16667"/>
            </a:avLst>
          </a:prstGeom>
          <a:solidFill>
            <a:srgbClr val="16325A"/>
          </a:solidFill>
          <a:ln w="12700">
            <a:solidFill>
              <a:srgbClr val="1632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81728" y="3520440"/>
            <a:ext cx="3666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BML Munjal University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3794760" cy="438912"/>
          </a:xfrm>
          <a:prstGeom prst="roundRect">
            <a:avLst>
              <a:gd name="adj" fmla="val 16667"/>
            </a:avLst>
          </a:prstGeom>
          <a:solidFill>
            <a:srgbClr val="16325A"/>
          </a:solidFill>
          <a:ln w="12700">
            <a:solidFill>
              <a:srgbClr val="1632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4069080"/>
            <a:ext cx="3666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Subject: AI DevOps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4069080"/>
            <a:ext cx="3794760" cy="438912"/>
          </a:xfrm>
          <a:prstGeom prst="roundRect">
            <a:avLst>
              <a:gd name="adj" fmla="val 16667"/>
            </a:avLst>
          </a:prstGeom>
          <a:solidFill>
            <a:srgbClr val="16325A"/>
          </a:solidFill>
          <a:ln w="12700">
            <a:solidFill>
              <a:srgbClr val="1632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1728" y="4069080"/>
            <a:ext cx="3666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Naveen Singh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502920"/>
            <a:ext cx="548640" cy="54864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4" y="634594"/>
            <a:ext cx="285293" cy="285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→ Aim: Why </a:t>
            </a:r>
            <a:r>
              <a:rPr lang="en-US" sz="2600" b="1" dirty="0" err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DealGuard</a:t>
            </a: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" y="1298448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Documents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755648"/>
            <a:ext cx="0" cy="82296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1856232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" y="1856232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313432"/>
            <a:ext cx="0" cy="82296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414016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" y="2414016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Domains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2871216"/>
            <a:ext cx="0" cy="82296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" y="297180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/ Connected Risks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3429000"/>
            <a:ext cx="0" cy="82296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3529584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" y="3529584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Analysis Time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financial, HR, technology, cybersecurity, tax, regulatory and ESG documents – reviewed manually, across domains.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0" y="1298448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21608" y="1298448"/>
            <a:ext cx="4901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 err="1">
                <a:solidFill>
                  <a:srgbClr val="FFFFFF"/>
                </a:solidFill>
                <a:latin typeface="+mj-lt"/>
                <a:ea typeface="Cambria" pitchFamily="34" charset="-122"/>
                <a:cs typeface="Calibri" pitchFamily="34" charset="-120"/>
              </a:rPr>
              <a:t>DealGuard</a:t>
            </a:r>
            <a:r>
              <a:rPr lang="en-US" sz="1400" i="1" dirty="0">
                <a:solidFill>
                  <a:srgbClr val="FFFFFF"/>
                </a:solidFill>
                <a:latin typeface="+mj-lt"/>
                <a:ea typeface="Cambria" pitchFamily="34" charset="-122"/>
                <a:cs typeface="Calibri" pitchFamily="34" charset="-120"/>
              </a:rPr>
              <a:t> AI 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accelerate and structure M&amp;A due diligence by using multiple specialized AI agents to analyze company documents across business domains, identify evidence-backed risks, connect cross-domain risks, validate findings, and present results in a decision-support dashboard.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0" y="29718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21608" y="297180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29718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01768" y="297180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29718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57227" y="2980944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98080" y="29718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62088" y="297180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0" y="34747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21608" y="34747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first-pass analysis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49240" y="34747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13248" y="34747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risk identification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40880" y="34747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04888" y="34747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risk identification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0" y="4096512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21608" y="409651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citation checks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4096512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13248" y="409651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findings for decisions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40880" y="4096512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04888" y="409651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stays with humans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Idea: A Multi-Agent Due Diligence System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domain-specific AI agents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" y="129844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1477670"/>
            <a:ext cx="190195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87552" y="13898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19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legal terms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67128" y="129844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31136" y="129844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58568" y="1389888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350" y="1477670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697480" y="13898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2258568" y="1819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Debt, revenue, liabilities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77056" y="129844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941064" y="129844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968496" y="1389888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278" y="1477670"/>
            <a:ext cx="190195" cy="1901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407408" y="13898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3968496" y="1819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market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225856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21208" y="225856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2350008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" y="2437790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87552" y="23500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2779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tech risks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167128" y="225856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2231136" y="225856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2258568" y="2350008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6350" y="2437790"/>
            <a:ext cx="190195" cy="1901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2697480" y="23500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2258568" y="2779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877056" y="225856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3941064" y="225856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3968496" y="2350008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6278" y="2437790"/>
            <a:ext cx="190195" cy="19019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4407408" y="23500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150" dirty="0"/>
          </a:p>
        </p:txBody>
      </p:sp>
      <p:sp>
        <p:nvSpPr>
          <p:cNvPr id="40" name="Text 32"/>
          <p:cNvSpPr txBox="1"/>
          <p:nvPr/>
        </p:nvSpPr>
        <p:spPr>
          <a:xfrm>
            <a:off x="3968496" y="2779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risks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57200" y="321868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521208" y="321868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22" y="3397910"/>
            <a:ext cx="190195" cy="19019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987552" y="3310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150" dirty="0"/>
          </a:p>
        </p:txBody>
      </p:sp>
      <p:sp>
        <p:nvSpPr>
          <p:cNvPr id="46" name="Text 37"/>
          <p:cNvSpPr txBox="1"/>
          <p:nvPr/>
        </p:nvSpPr>
        <p:spPr>
          <a:xfrm>
            <a:off x="548640" y="3739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exposure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2167128" y="321868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2231136" y="321868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2258568" y="3310128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6350" y="3397910"/>
            <a:ext cx="190195" cy="19019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2697480" y="3310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150" dirty="0"/>
          </a:p>
        </p:txBody>
      </p:sp>
      <p:sp>
        <p:nvSpPr>
          <p:cNvPr id="52" name="Text 42"/>
          <p:cNvSpPr txBox="1"/>
          <p:nvPr/>
        </p:nvSpPr>
        <p:spPr>
          <a:xfrm>
            <a:off x="2258568" y="3739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compliance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3877056" y="321868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3941064" y="321868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5" name="Shape 45"/>
          <p:cNvSpPr/>
          <p:nvPr/>
        </p:nvSpPr>
        <p:spPr>
          <a:xfrm>
            <a:off x="3968496" y="3310128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6278" y="3397910"/>
            <a:ext cx="190195" cy="190195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4407408" y="3310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</a:t>
            </a:r>
            <a:endParaRPr lang="en-US" sz="1150" dirty="0"/>
          </a:p>
        </p:txBody>
      </p:sp>
      <p:sp>
        <p:nvSpPr>
          <p:cNvPr id="58" name="Text 47"/>
          <p:cNvSpPr txBox="1"/>
          <p:nvPr/>
        </p:nvSpPr>
        <p:spPr>
          <a:xfrm>
            <a:off x="3968496" y="3739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social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45720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general AI system, each specialist agent focuses on risks relevant to its own domain.</a:t>
            </a:r>
            <a:endParaRPr lang="en-US" sz="1150" dirty="0"/>
          </a:p>
        </p:txBody>
      </p:sp>
      <p:sp>
        <p:nvSpPr>
          <p:cNvPr id="60" name="Text 49"/>
          <p:cNvSpPr txBox="1"/>
          <p:nvPr/>
        </p:nvSpPr>
        <p:spPr>
          <a:xfrm>
            <a:off x="576072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agent works</a:t>
            </a:r>
            <a:endParaRPr lang="en-US" sz="1500" dirty="0"/>
          </a:p>
        </p:txBody>
      </p:sp>
      <p:sp>
        <p:nvSpPr>
          <p:cNvPr id="61" name="Shape 50"/>
          <p:cNvSpPr/>
          <p:nvPr/>
        </p:nvSpPr>
        <p:spPr>
          <a:xfrm>
            <a:off x="5760720" y="1298448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5824728" y="129844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Context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Domain Instructions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GPT-4o / GPT-4o-mini</a:t>
            </a:r>
            <a:endParaRPr lang="en-US" sz="1150" dirty="0"/>
          </a:p>
        </p:txBody>
      </p:sp>
      <p:sp>
        <p:nvSpPr>
          <p:cNvPr id="63" name="Shape 52"/>
          <p:cNvSpPr/>
          <p:nvPr/>
        </p:nvSpPr>
        <p:spPr>
          <a:xfrm>
            <a:off x="7223760" y="2139696"/>
            <a:ext cx="0" cy="14630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64" name="Shape 53"/>
          <p:cNvSpPr/>
          <p:nvPr/>
        </p:nvSpPr>
        <p:spPr>
          <a:xfrm>
            <a:off x="5760720" y="2304288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5824728" y="2304288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 (e.g. Finance)</a:t>
            </a:r>
            <a:endParaRPr lang="en-US" sz="1150" dirty="0"/>
          </a:p>
        </p:txBody>
      </p:sp>
      <p:sp>
        <p:nvSpPr>
          <p:cNvPr id="66" name="Shape 55"/>
          <p:cNvSpPr/>
          <p:nvPr/>
        </p:nvSpPr>
        <p:spPr>
          <a:xfrm>
            <a:off x="7223760" y="2706624"/>
            <a:ext cx="0" cy="14630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67" name="Shape 56"/>
          <p:cNvSpPr/>
          <p:nvPr/>
        </p:nvSpPr>
        <p:spPr>
          <a:xfrm>
            <a:off x="5760720" y="2871216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8" name="Text 57"/>
          <p:cNvSpPr txBox="1"/>
          <p:nvPr/>
        </p:nvSpPr>
        <p:spPr>
          <a:xfrm>
            <a:off x="5824728" y="2871216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Finding: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Severity + Evidence + Citation</a:t>
            </a:r>
            <a:endParaRPr lang="en-US" sz="1100" dirty="0"/>
          </a:p>
        </p:txBody>
      </p:sp>
      <p:sp>
        <p:nvSpPr>
          <p:cNvPr id="69" name="Text 58"/>
          <p:cNvSpPr txBox="1"/>
          <p:nvPr/>
        </p:nvSpPr>
        <p:spPr>
          <a:xfrm>
            <a:off x="576072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underlying language intelligence.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role + instructions + context + LLM + structured output.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</a:t>
            </a:r>
            <a:r>
              <a:rPr lang="en-US" sz="2600" b="1" dirty="0" err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DealGuard</a:t>
            </a: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 Works – End-to-End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" y="105156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Documents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64208" y="1440180"/>
            <a:ext cx="182880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65376" y="105156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9384" y="105156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Gateway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72384" y="1440180"/>
            <a:ext cx="182880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73552" y="105156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05156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1440180"/>
            <a:ext cx="182880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81728" y="105156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45736" y="105156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&amp; Chunking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88736" y="1440180"/>
            <a:ext cx="182880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9904" y="105156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53912" y="105156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96912" y="1440180"/>
            <a:ext cx="182880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105156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62088" y="105156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Specialist AI Agents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1847088"/>
            <a:ext cx="0" cy="51206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23774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62088" y="237744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Agent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 flipH="1">
            <a:off x="7296912" y="2766060"/>
            <a:ext cx="182880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89904" y="23774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53912" y="237744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flipH="1">
            <a:off x="5888736" y="2766060"/>
            <a:ext cx="182880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81728" y="23774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45736" y="237744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 flipH="1">
            <a:off x="4480560" y="2766060"/>
            <a:ext cx="182880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273552" y="23774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37560" y="237744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 flipH="1">
            <a:off x="3072384" y="2766060"/>
            <a:ext cx="182880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865376" y="23774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929384" y="2377440"/>
            <a:ext cx="106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3832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1208" y="3383280"/>
            <a:ext cx="2523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chunking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37673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PDF, DOCX, XLSX, PPTX, TXT, CSV, MD. Large documents are split into smaller manageable text units before AI analysis.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46120" y="33832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10128" y="3383280"/>
            <a:ext cx="2523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38328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383280" y="37673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manager that starts and coordinates the agents. Python asyncio runs them concurrently, helping reduce waiting time versus strictly sequential processing.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35040" y="33832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99048" y="3383280"/>
            <a:ext cx="2523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17220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172200" y="37673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 → Redis Pub/Sub → Node.js → Socket.IO → React. Example event: “Finance Agent completed”.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Findings to Decisions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Cross-domain synthesis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987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Quality Gate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987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Risk classification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137160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Agent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Debt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0" y="137160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92808" y="137160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Restrictive Covenant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984248"/>
            <a:ext cx="457200" cy="393192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2011680" y="1984248"/>
            <a:ext cx="457200" cy="393192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395728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" y="239572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Agent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783080" y="2779776"/>
            <a:ext cx="0" cy="23774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03580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" y="30358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Risk: high debt + restrictive covenant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risks appear only when domains are connected.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3716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10128" y="13716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10128" y="1426464"/>
            <a:ext cx="274320" cy="27432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965" y="1492301"/>
            <a:ext cx="142646" cy="14264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3675888" y="1371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present?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46120" y="18288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10128" y="18288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310128" y="1883664"/>
            <a:ext cx="274320" cy="27432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965" y="1949501"/>
            <a:ext cx="142646" cy="14264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3675888" y="1828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verifiable?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246120" y="22860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310128" y="22860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310128" y="2340864"/>
            <a:ext cx="274320" cy="27432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965" y="2406701"/>
            <a:ext cx="142646" cy="14264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3675888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supports severity?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3246120" y="27432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310128" y="27432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3310128" y="2798064"/>
            <a:ext cx="274320" cy="27432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965" y="2863901"/>
            <a:ext cx="142646" cy="142646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3675888" y="2743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domains completed?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3246120" y="32004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3310128" y="32004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3310128" y="3255264"/>
            <a:ext cx="274320" cy="27432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965" y="3321101"/>
            <a:ext cx="142646" cy="142646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3675888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contradictory?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324612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→ Gate → Validated Findings → Report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6035040" y="1371600"/>
            <a:ext cx="548640" cy="329184"/>
          </a:xfrm>
          <a:prstGeom prst="roundRect">
            <a:avLst>
              <a:gd name="adj" fmla="val 22222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099048" y="13716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6656832" y="1371600"/>
            <a:ext cx="2029968" cy="329184"/>
          </a:xfrm>
          <a:prstGeom prst="roundRect">
            <a:avLst>
              <a:gd name="adj" fmla="val 2222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720840" y="137160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Serious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6035040" y="1755648"/>
            <a:ext cx="548640" cy="329184"/>
          </a:xfrm>
          <a:prstGeom prst="roundRect">
            <a:avLst>
              <a:gd name="adj" fmla="val 22222"/>
            </a:avLst>
          </a:prstGeom>
          <a:solidFill>
            <a:srgbClr val="E8742F"/>
          </a:solidFill>
          <a:ln w="12700">
            <a:solidFill>
              <a:srgbClr val="E8742F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6099048" y="17556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51" name="Shape 44"/>
          <p:cNvSpPr/>
          <p:nvPr/>
        </p:nvSpPr>
        <p:spPr>
          <a:xfrm>
            <a:off x="6656832" y="1755648"/>
            <a:ext cx="2029968" cy="329184"/>
          </a:xfrm>
          <a:prstGeom prst="roundRect">
            <a:avLst>
              <a:gd name="adj" fmla="val 2222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6720840" y="175564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3" name="Shape 46"/>
          <p:cNvSpPr/>
          <p:nvPr/>
        </p:nvSpPr>
        <p:spPr>
          <a:xfrm>
            <a:off x="6035040" y="2139696"/>
            <a:ext cx="548640" cy="329184"/>
          </a:xfrm>
          <a:prstGeom prst="roundRect">
            <a:avLst>
              <a:gd name="adj" fmla="val 22222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099048" y="213969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55" name="Shape 48"/>
          <p:cNvSpPr/>
          <p:nvPr/>
        </p:nvSpPr>
        <p:spPr>
          <a:xfrm>
            <a:off x="6656832" y="2139696"/>
            <a:ext cx="2029968" cy="329184"/>
          </a:xfrm>
          <a:prstGeom prst="roundRect">
            <a:avLst>
              <a:gd name="adj" fmla="val 2222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6720840" y="213969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57" name="Shape 50"/>
          <p:cNvSpPr/>
          <p:nvPr/>
        </p:nvSpPr>
        <p:spPr>
          <a:xfrm>
            <a:off x="6035040" y="2523744"/>
            <a:ext cx="548640" cy="329184"/>
          </a:xfrm>
          <a:prstGeom prst="roundRect">
            <a:avLst>
              <a:gd name="adj" fmla="val 22222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6099048" y="252374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59" name="Shape 52"/>
          <p:cNvSpPr/>
          <p:nvPr/>
        </p:nvSpPr>
        <p:spPr>
          <a:xfrm>
            <a:off x="6656832" y="2523744"/>
            <a:ext cx="2029968" cy="329184"/>
          </a:xfrm>
          <a:prstGeom prst="roundRect">
            <a:avLst>
              <a:gd name="adj" fmla="val 2222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6720840" y="25237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100" dirty="0"/>
          </a:p>
        </p:txBody>
      </p:sp>
      <p:sp>
        <p:nvSpPr>
          <p:cNvPr id="61" name="Shape 54"/>
          <p:cNvSpPr/>
          <p:nvPr/>
        </p:nvSpPr>
        <p:spPr>
          <a:xfrm>
            <a:off x="6035040" y="3063240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6099048" y="30632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Caution / No-Go</a:t>
            </a:r>
            <a:endParaRPr lang="en-US" sz="1100" dirty="0"/>
          </a:p>
        </p:txBody>
      </p:sp>
      <p:sp>
        <p:nvSpPr>
          <p:cNvPr id="63" name="Shape 56"/>
          <p:cNvSpPr/>
          <p:nvPr/>
        </p:nvSpPr>
        <p:spPr>
          <a:xfrm>
            <a:off x="7360920" y="3374136"/>
            <a:ext cx="0" cy="14630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64" name="Shape 57"/>
          <p:cNvSpPr/>
          <p:nvPr/>
        </p:nvSpPr>
        <p:spPr>
          <a:xfrm>
            <a:off x="6035040" y="3538728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6099048" y="353872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 Maker</a:t>
            </a:r>
            <a:endParaRPr lang="en-US" sz="1100" dirty="0"/>
          </a:p>
        </p:txBody>
      </p:sp>
      <p:sp>
        <p:nvSpPr>
          <p:cNvPr id="66" name="Shape 59"/>
          <p:cNvSpPr/>
          <p:nvPr/>
        </p:nvSpPr>
        <p:spPr>
          <a:xfrm>
            <a:off x="457200" y="41605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521208" y="416052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is designed to improve the reliability and evidence quality of findings.</a:t>
            </a:r>
            <a:endParaRPr lang="en-US" sz="1100" dirty="0"/>
          </a:p>
        </p:txBody>
      </p:sp>
      <p:sp>
        <p:nvSpPr>
          <p:cNvPr id="68" name="Shape 61"/>
          <p:cNvSpPr/>
          <p:nvPr/>
        </p:nvSpPr>
        <p:spPr>
          <a:xfrm>
            <a:off x="4663440" y="41605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4727448" y="416052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DealGuard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provides decision support; the final business decision remains with the human.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Technology Stack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" y="100584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1527048"/>
            <a:ext cx="0" cy="256032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1801368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1801368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Gateway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2459736"/>
            <a:ext cx="0" cy="256032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73405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EEF3F8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" y="273405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29968" y="2121408"/>
            <a:ext cx="237744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0" y="1801368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50008" y="1801368"/>
            <a:ext cx="78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18688" y="2121408"/>
            <a:ext cx="182880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29000" y="1005840"/>
            <a:ext cx="45720" cy="265176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005840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84448" y="10058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AI Engine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61688" y="1380744"/>
            <a:ext cx="0" cy="73152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20440" y="1463040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84448" y="14630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61688" y="1837944"/>
            <a:ext cx="0" cy="73152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520440" y="1920240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84448" y="19202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61688" y="2295144"/>
            <a:ext cx="0" cy="73152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520440" y="2377440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84448" y="23774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Specialist Agents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61688" y="2752344"/>
            <a:ext cx="0" cy="73152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520440" y="2834640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84448" y="28346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+ Quality Gate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61688" y="3209544"/>
            <a:ext cx="0" cy="73152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520440" y="3291840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84448" y="32918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Findings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40680" y="100584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04688" y="1005840"/>
            <a:ext cx="1472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32120" y="109728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902" y="1185062"/>
            <a:ext cx="190195" cy="190195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5971032" y="10972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5532120" y="1572768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132320" y="100584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196328" y="1005840"/>
            <a:ext cx="1472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223760" y="109728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542" y="1185062"/>
            <a:ext cx="190195" cy="190195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7662672" y="10972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46" name="Text 42"/>
          <p:cNvSpPr txBox="1"/>
          <p:nvPr/>
        </p:nvSpPr>
        <p:spPr>
          <a:xfrm>
            <a:off x="7223760" y="1572768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Mongoose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5440680" y="288036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504688" y="2880360"/>
            <a:ext cx="1472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5532120" y="297180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902" y="3059582"/>
            <a:ext cx="190195" cy="190195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5971032" y="2971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50" dirty="0"/>
          </a:p>
        </p:txBody>
      </p:sp>
      <p:sp>
        <p:nvSpPr>
          <p:cNvPr id="52" name="Text 47"/>
          <p:cNvSpPr txBox="1"/>
          <p:nvPr/>
        </p:nvSpPr>
        <p:spPr>
          <a:xfrm>
            <a:off x="5532120" y="3447288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/ GPT-4o-mini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7132320" y="288036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7196328" y="2880360"/>
            <a:ext cx="1472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5" name="Shape 50"/>
          <p:cNvSpPr/>
          <p:nvPr/>
        </p:nvSpPr>
        <p:spPr>
          <a:xfrm>
            <a:off x="7223760" y="297180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542" y="3059582"/>
            <a:ext cx="190195" cy="190195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7662672" y="2971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58" name="Text 52"/>
          <p:cNvSpPr txBox="1"/>
          <p:nvPr/>
        </p:nvSpPr>
        <p:spPr>
          <a:xfrm>
            <a:off x="7223760" y="3447288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 Compose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User Sees: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297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" y="1005840"/>
            <a:ext cx="416966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060704"/>
            <a:ext cx="4151376" cy="274320"/>
          </a:xfrm>
          <a:prstGeom prst="roundRect">
            <a:avLst>
              <a:gd name="adj" fmla="val 2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60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/ Report information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1389888"/>
            <a:ext cx="123444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389888"/>
            <a:ext cx="1106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4081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AgentGrid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" y="1627632"/>
            <a:ext cx="329184" cy="237744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627632"/>
            <a:ext cx="329184" cy="237744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5024" y="1627632"/>
            <a:ext cx="329184" cy="237744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1901952"/>
            <a:ext cx="329184" cy="237744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901952"/>
            <a:ext cx="329184" cy="237744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5024" y="1901952"/>
            <a:ext cx="329184" cy="237744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2176272"/>
            <a:ext cx="329184" cy="237744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2176272"/>
            <a:ext cx="329184" cy="237744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35024" y="2176272"/>
            <a:ext cx="329184" cy="237744"/>
          </a:xfrm>
          <a:prstGeom prst="rect">
            <a:avLst/>
          </a:prstGeom>
          <a:solidFill>
            <a:srgbClr val="F2A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1389888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92808" y="1389888"/>
            <a:ext cx="1289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83664" y="14081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20240" y="1627632"/>
            <a:ext cx="292608" cy="182880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31136" y="1627632"/>
            <a:ext cx="292608" cy="182880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42032" y="1627632"/>
            <a:ext cx="292608" cy="182880"/>
          </a:xfrm>
          <a:prstGeom prst="rect">
            <a:avLst/>
          </a:prstGeom>
          <a:solidFill>
            <a:srgbClr val="F2A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52928" y="1627632"/>
            <a:ext cx="292608" cy="182880"/>
          </a:xfrm>
          <a:prstGeom prst="rect">
            <a:avLst/>
          </a:prstGeom>
          <a:solidFill>
            <a:srgbClr val="E874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1828800"/>
            <a:ext cx="292608" cy="182880"/>
          </a:xfrm>
          <a:prstGeom prst="rect">
            <a:avLst/>
          </a:prstGeom>
          <a:solidFill>
            <a:srgbClr val="E874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31136" y="1828800"/>
            <a:ext cx="292608" cy="182880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42032" y="1828800"/>
            <a:ext cx="292608" cy="182880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52928" y="1828800"/>
            <a:ext cx="292608" cy="182880"/>
          </a:xfrm>
          <a:prstGeom prst="rect">
            <a:avLst/>
          </a:prstGeom>
          <a:solidFill>
            <a:srgbClr val="F2A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0240" y="2029968"/>
            <a:ext cx="292608" cy="182880"/>
          </a:xfrm>
          <a:prstGeom prst="rect">
            <a:avLst/>
          </a:prstGeom>
          <a:solidFill>
            <a:srgbClr val="F2A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31136" y="2029968"/>
            <a:ext cx="292608" cy="182880"/>
          </a:xfrm>
          <a:prstGeom prst="rect">
            <a:avLst/>
          </a:prstGeom>
          <a:solidFill>
            <a:srgbClr val="E874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42032" y="2029968"/>
            <a:ext cx="292608" cy="182880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52928" y="2029968"/>
            <a:ext cx="292608" cy="182880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2231136"/>
            <a:ext cx="292608" cy="182880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31136" y="2231136"/>
            <a:ext cx="292608" cy="182880"/>
          </a:xfrm>
          <a:prstGeom prst="rect">
            <a:avLst/>
          </a:prstGeom>
          <a:solidFill>
            <a:srgbClr val="F2A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42032" y="2231136"/>
            <a:ext cx="292608" cy="182880"/>
          </a:xfrm>
          <a:prstGeom prst="rect">
            <a:avLst/>
          </a:prstGeom>
          <a:solidFill>
            <a:srgbClr val="E874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52928" y="2231136"/>
            <a:ext cx="292608" cy="182880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10128" y="1389888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74136" y="1389888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364992" y="1408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29000" y="182880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93008" y="182880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0352" y="256032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2560320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85216" y="2578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Table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3504" y="2816352"/>
            <a:ext cx="223113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" y="3127248"/>
            <a:ext cx="223113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" y="3438144"/>
            <a:ext cx="223113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71800" y="2560320"/>
            <a:ext cx="1709928" cy="1234440"/>
          </a:xfrm>
          <a:prstGeom prst="roundRect">
            <a:avLst>
              <a:gd name="adj" fmla="val 592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035808" y="2560320"/>
            <a:ext cx="1581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3026664" y="2578608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Graph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 flipV="1">
            <a:off x="3310128" y="2944368"/>
            <a:ext cx="457200" cy="36576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3310128" y="3310128"/>
            <a:ext cx="960120" cy="9144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3310128" y="3310128"/>
            <a:ext cx="365760" cy="22860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200400" y="3200400"/>
            <a:ext cx="219456" cy="219456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0" y="2834640"/>
            <a:ext cx="219456" cy="219456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60520" y="3291840"/>
            <a:ext cx="219456" cy="219456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3429000"/>
            <a:ext cx="219456" cy="219456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20640" y="987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(project goals)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120640" y="1353312"/>
            <a:ext cx="274320" cy="2743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77" y="1419149"/>
            <a:ext cx="142646" cy="142646"/>
          </a:xfrm>
          <a:prstGeom prst="rect">
            <a:avLst/>
          </a:prstGeom>
        </p:spPr>
      </p:pic>
      <p:sp>
        <p:nvSpPr>
          <p:cNvPr id="63" name="Text 60"/>
          <p:cNvSpPr txBox="1"/>
          <p:nvPr/>
        </p:nvSpPr>
        <p:spPr>
          <a:xfrm>
            <a:off x="5504688" y="13258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first-pass analysis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5120640" y="1737360"/>
            <a:ext cx="274320" cy="2743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77" y="1803197"/>
            <a:ext cx="142646" cy="142646"/>
          </a:xfrm>
          <a:prstGeom prst="rect">
            <a:avLst/>
          </a:prstGeom>
        </p:spPr>
      </p:pic>
      <p:sp>
        <p:nvSpPr>
          <p:cNvPr id="66" name="Text 62"/>
          <p:cNvSpPr txBox="1"/>
          <p:nvPr/>
        </p:nvSpPr>
        <p:spPr>
          <a:xfrm>
            <a:off x="5504688" y="17099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multi-domain risk identification</a:t>
            </a:r>
            <a:endParaRPr lang="en-US" sz="1150" dirty="0"/>
          </a:p>
        </p:txBody>
      </p:sp>
      <p:sp>
        <p:nvSpPr>
          <p:cNvPr id="67" name="Shape 63"/>
          <p:cNvSpPr/>
          <p:nvPr/>
        </p:nvSpPr>
        <p:spPr>
          <a:xfrm>
            <a:off x="5120640" y="2121408"/>
            <a:ext cx="274320" cy="2743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77" y="2187245"/>
            <a:ext cx="142646" cy="142646"/>
          </a:xfrm>
          <a:prstGeom prst="rect">
            <a:avLst/>
          </a:prstGeom>
        </p:spPr>
      </p:pic>
      <p:sp>
        <p:nvSpPr>
          <p:cNvPr id="69" name="Text 64"/>
          <p:cNvSpPr txBox="1"/>
          <p:nvPr/>
        </p:nvSpPr>
        <p:spPr>
          <a:xfrm>
            <a:off x="5504688" y="20939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findings</a:t>
            </a:r>
            <a:endParaRPr lang="en-US" sz="1150" dirty="0"/>
          </a:p>
        </p:txBody>
      </p:sp>
      <p:sp>
        <p:nvSpPr>
          <p:cNvPr id="70" name="Shape 65"/>
          <p:cNvSpPr/>
          <p:nvPr/>
        </p:nvSpPr>
        <p:spPr>
          <a:xfrm>
            <a:off x="5120640" y="2505456"/>
            <a:ext cx="274320" cy="2743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7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77" y="2571293"/>
            <a:ext cx="142646" cy="142646"/>
          </a:xfrm>
          <a:prstGeom prst="rect">
            <a:avLst/>
          </a:prstGeom>
        </p:spPr>
      </p:pic>
      <p:sp>
        <p:nvSpPr>
          <p:cNvPr id="72" name="Text 66"/>
          <p:cNvSpPr txBox="1"/>
          <p:nvPr/>
        </p:nvSpPr>
        <p:spPr>
          <a:xfrm>
            <a:off x="5504688" y="2478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 of cross-domain risks</a:t>
            </a:r>
            <a:endParaRPr lang="en-US" sz="1150" dirty="0"/>
          </a:p>
        </p:txBody>
      </p:sp>
      <p:sp>
        <p:nvSpPr>
          <p:cNvPr id="73" name="Shape 67"/>
          <p:cNvSpPr/>
          <p:nvPr/>
        </p:nvSpPr>
        <p:spPr>
          <a:xfrm>
            <a:off x="5120640" y="2889504"/>
            <a:ext cx="274320" cy="2743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77" y="2955341"/>
            <a:ext cx="142646" cy="142646"/>
          </a:xfrm>
          <a:prstGeom prst="rect">
            <a:avLst/>
          </a:prstGeom>
        </p:spPr>
      </p:pic>
      <p:sp>
        <p:nvSpPr>
          <p:cNvPr id="75" name="Text 68"/>
          <p:cNvSpPr txBox="1"/>
          <p:nvPr/>
        </p:nvSpPr>
        <p:spPr>
          <a:xfrm>
            <a:off x="5504688" y="28620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 progress</a:t>
            </a:r>
            <a:endParaRPr lang="en-US" sz="1150" dirty="0"/>
          </a:p>
        </p:txBody>
      </p:sp>
      <p:sp>
        <p:nvSpPr>
          <p:cNvPr id="76" name="Shape 69"/>
          <p:cNvSpPr/>
          <p:nvPr/>
        </p:nvSpPr>
        <p:spPr>
          <a:xfrm>
            <a:off x="5120640" y="3273552"/>
            <a:ext cx="274320" cy="2743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7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77" y="3339389"/>
            <a:ext cx="142646" cy="142646"/>
          </a:xfrm>
          <a:prstGeom prst="rect">
            <a:avLst/>
          </a:prstGeom>
        </p:spPr>
      </p:pic>
      <p:sp>
        <p:nvSpPr>
          <p:cNvPr id="78" name="Text 70"/>
          <p:cNvSpPr txBox="1"/>
          <p:nvPr/>
        </p:nvSpPr>
        <p:spPr>
          <a:xfrm>
            <a:off x="5504688" y="3246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decision-support dashboard</a:t>
            </a:r>
            <a:endParaRPr lang="en-US" sz="1150" dirty="0"/>
          </a:p>
        </p:txBody>
      </p:sp>
      <p:sp>
        <p:nvSpPr>
          <p:cNvPr id="79" name="Shape 71"/>
          <p:cNvSpPr/>
          <p:nvPr/>
        </p:nvSpPr>
        <p:spPr>
          <a:xfrm>
            <a:off x="5120640" y="3657600"/>
            <a:ext cx="274320" cy="2743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8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77" y="3723437"/>
            <a:ext cx="142646" cy="142646"/>
          </a:xfrm>
          <a:prstGeom prst="rect">
            <a:avLst/>
          </a:prstGeom>
        </p:spPr>
      </p:pic>
      <p:sp>
        <p:nvSpPr>
          <p:cNvPr id="81" name="Text 72"/>
          <p:cNvSpPr txBox="1"/>
          <p:nvPr/>
        </p:nvSpPr>
        <p:spPr>
          <a:xfrm>
            <a:off x="5504688" y="3630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stays in control of the final decision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Reduces Effort and Improves Due Diligence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" y="96012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960120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84648" y="96012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DealGuard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AI-assisted workflow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" y="137160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 review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1563624"/>
            <a:ext cx="914400" cy="0"/>
          </a:xfrm>
          <a:prstGeom prst="line">
            <a:avLst/>
          </a:prstGeom>
          <a:noFill/>
          <a:ln w="22225">
            <a:solidFill>
              <a:srgbClr val="0E9F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13716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84648" y="137160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document processing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" y="182880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domain reviews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0" y="2020824"/>
            <a:ext cx="914400" cy="0"/>
          </a:xfrm>
          <a:prstGeom prst="line">
            <a:avLst/>
          </a:prstGeom>
          <a:noFill/>
          <a:ln w="22225">
            <a:solidFill>
              <a:srgbClr val="0E9F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18288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84648" y="182880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specialist-agent analysis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" y="228600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cross-domain consolidation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0" y="2478024"/>
            <a:ext cx="914400" cy="0"/>
          </a:xfrm>
          <a:prstGeom prst="line">
            <a:avLst/>
          </a:prstGeom>
          <a:noFill/>
          <a:ln w="22225">
            <a:solidFill>
              <a:srgbClr val="0E9F9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20640" y="22860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84648" y="228600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risk synthesis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" y="274320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evidence checking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0" y="2935224"/>
            <a:ext cx="914400" cy="0"/>
          </a:xfrm>
          <a:prstGeom prst="line">
            <a:avLst/>
          </a:prstGeom>
          <a:noFill/>
          <a:ln w="22225">
            <a:solidFill>
              <a:srgbClr val="0E9F9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20640" y="27432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84648" y="274320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validation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1208" y="320040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 preparation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0" y="3392424"/>
            <a:ext cx="914400" cy="0"/>
          </a:xfrm>
          <a:prstGeom prst="line">
            <a:avLst/>
          </a:prstGeom>
          <a:noFill/>
          <a:ln w="22225">
            <a:solidFill>
              <a:srgbClr val="0E9F9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120640" y="32004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84648" y="320040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 generation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3675888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1208" y="367588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document-heavy, coordination-intensive.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0640" y="3675888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DDF3F1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84648" y="367588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 preparation, concurrent AI analysis, centralized synthesis, structured validation, report 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Improves with </a:t>
            </a:r>
            <a:r>
              <a:rPr lang="en-US" sz="2600" b="1" dirty="0" err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DealGuard</a:t>
            </a: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72768" cy="2423160"/>
          </a:xfrm>
          <a:prstGeom prst="roundRect">
            <a:avLst>
              <a:gd name="adj" fmla="val 465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" y="1005840"/>
            <a:ext cx="14447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216" y="1115568"/>
            <a:ext cx="411480" cy="4114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" y="1214323"/>
            <a:ext cx="213970" cy="21397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1627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121408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analysis can reduce waiting vs strictly sequential agent execution.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121408" y="1005840"/>
            <a:ext cx="1572768" cy="2423160"/>
          </a:xfrm>
          <a:prstGeom prst="roundRect">
            <a:avLst>
              <a:gd name="adj" fmla="val 465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85416" y="1005840"/>
            <a:ext cx="14447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249424" y="1115568"/>
            <a:ext cx="411480" cy="4114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179" y="1214323"/>
            <a:ext cx="213970" cy="21397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31136" y="1627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2231136" y="2121408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specialist agents examine documents from different business domains.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785616" y="1005840"/>
            <a:ext cx="1572768" cy="2423160"/>
          </a:xfrm>
          <a:prstGeom prst="roundRect">
            <a:avLst>
              <a:gd name="adj" fmla="val 465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849624" y="1005840"/>
            <a:ext cx="14447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913632" y="1115568"/>
            <a:ext cx="411480" cy="4114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2387" y="1214323"/>
            <a:ext cx="213970" cy="21397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895344" y="1627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insight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3895344" y="2121408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Agent connects related findings that isolated reviews may miss.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449824" y="1005840"/>
            <a:ext cx="1572768" cy="2423160"/>
          </a:xfrm>
          <a:prstGeom prst="roundRect">
            <a:avLst>
              <a:gd name="adj" fmla="val 465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513832" y="1005840"/>
            <a:ext cx="14447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5577840" y="1115568"/>
            <a:ext cx="411480" cy="4114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6595" y="1214323"/>
            <a:ext cx="213970" cy="21397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559552" y="1627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traceability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5559552" y="2121408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and supporting quotes help trace findings to source documents.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7114032" y="1005840"/>
            <a:ext cx="1572768" cy="2423160"/>
          </a:xfrm>
          <a:prstGeom prst="roundRect">
            <a:avLst>
              <a:gd name="adj" fmla="val 465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178040" y="1005840"/>
            <a:ext cx="14447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7242048" y="1115568"/>
            <a:ext cx="411480" cy="4114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0803" y="1214323"/>
            <a:ext cx="213970" cy="21397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223760" y="1627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decision support</a:t>
            </a:r>
            <a:endParaRPr lang="en-US" sz="1250" dirty="0"/>
          </a:p>
        </p:txBody>
      </p:sp>
      <p:sp>
        <p:nvSpPr>
          <p:cNvPr id="41" name="Text 34"/>
          <p:cNvSpPr txBox="1"/>
          <p:nvPr/>
        </p:nvSpPr>
        <p:spPr>
          <a:xfrm>
            <a:off x="7223760" y="2121408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classes and a central dashboard make findings easier to review.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&amp; Deployment: From Development to Monitoring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" y="960120"/>
            <a:ext cx="87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/ Code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81328" y="1344168"/>
            <a:ext cx="146304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645920" y="96012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09928" y="960120"/>
            <a:ext cx="87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(Docker)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0048" y="1344168"/>
            <a:ext cx="146304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34640" y="96012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8648" y="960120"/>
            <a:ext cx="87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Config (Docker Compose)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58768" y="1344168"/>
            <a:ext cx="146304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23360" y="96012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87368" y="960120"/>
            <a:ext cx="87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47488" y="1344168"/>
            <a:ext cx="146304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12080" y="96012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76088" y="960120"/>
            <a:ext cx="87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Guardrails-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Safety Layer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1344168"/>
            <a:ext cx="146304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96012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960120"/>
            <a:ext cx="87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</a:t>
            </a:r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24928" y="1344168"/>
            <a:ext cx="146304" cy="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96012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53528" y="960120"/>
            <a:ext cx="87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Improvement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874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current architecture: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217627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EF3F8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" y="217627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25980" y="217627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EF3F8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89988" y="217627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Gateway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94760" y="217627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9F9A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58768" y="217627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AI Engine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63540" y="217627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EF3F8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27548" y="217627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132320" y="217627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EF3F8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96328" y="217627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27889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1208" y="278892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Compose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31729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packages services with their dependencies for consistent environments; Compose configures and runs multiple services together per the project configuration.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46120" y="27889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10128" y="278892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383280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&amp; Grafana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3383280" y="31729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tools only: Prometheus collects metrics (when instrumentation and scraping are configured); Grafana visualizes them. They do not perform AI due diligence.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27889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099048" y="278892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172200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monitoring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172200" y="31729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developers identify service failures, resource issues and performance bottlenecks, supporting troubleshooting and improvement.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F2A03D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21208" y="13258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1505102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87552" y="13990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formats &amp; languages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1892808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document ingestion capabilities.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42032" y="1325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F2A03D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606040" y="13258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633472" y="141732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254" y="1505102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072384" y="13990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AI reliability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2651760" y="1892808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evidence verification, citation validation and evaluation of findings.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26864" y="1325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F2A03D"/>
            </a:solidFill>
            <a:prstDash val="dash"/>
          </a:ln>
        </p:spPr>
      </p:sp>
      <p:sp>
        <p:nvSpPr>
          <p:cNvPr id="19" name="Text 15"/>
          <p:cNvSpPr txBox="1"/>
          <p:nvPr/>
        </p:nvSpPr>
        <p:spPr>
          <a:xfrm>
            <a:off x="4690872" y="13258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718304" y="141732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086" y="1505102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157216" y="13990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4736592" y="1892808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review, correct and approve AI findings.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711696" y="1325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F2A03D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6775704" y="13258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803136" y="141732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0918" y="1505102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42048" y="13990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risk analytics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6821424" y="1892808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analysis, cross-deal comparison, customizable risk scoring.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57200" y="2834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F2A03D"/>
            </a:solidFill>
            <a:prstDash val="dash"/>
          </a:ln>
        </p:spPr>
      </p:sp>
      <p:sp>
        <p:nvSpPr>
          <p:cNvPr id="31" name="Text 25"/>
          <p:cNvSpPr txBox="1"/>
          <p:nvPr/>
        </p:nvSpPr>
        <p:spPr>
          <a:xfrm>
            <a:off x="521208" y="283464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" y="3013862"/>
            <a:ext cx="190195" cy="19019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87552" y="2907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566928" y="3401568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document collections and more simultaneous projects.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2542032" y="2834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F2A03D"/>
            </a:solidFill>
            <a:prstDash val="dash"/>
          </a:ln>
        </p:spPr>
      </p:sp>
      <p:sp>
        <p:nvSpPr>
          <p:cNvPr id="37" name="Text 30"/>
          <p:cNvSpPr txBox="1"/>
          <p:nvPr/>
        </p:nvSpPr>
        <p:spPr>
          <a:xfrm>
            <a:off x="2606040" y="283464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2633472" y="292608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1254" y="3013862"/>
            <a:ext cx="190195" cy="19019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072384" y="2907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1150" dirty="0"/>
          </a:p>
        </p:txBody>
      </p:sp>
      <p:sp>
        <p:nvSpPr>
          <p:cNvPr id="41" name="Text 33"/>
          <p:cNvSpPr txBox="1"/>
          <p:nvPr/>
        </p:nvSpPr>
        <p:spPr>
          <a:xfrm>
            <a:off x="2651760" y="3401568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access controls, audit trails, protection of confidential documents.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4626864" y="2834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F2A03D"/>
            </a:solidFill>
            <a:prstDash val="dash"/>
          </a:ln>
        </p:spPr>
      </p:sp>
      <p:sp>
        <p:nvSpPr>
          <p:cNvPr id="43" name="Text 35"/>
          <p:cNvSpPr txBox="1"/>
          <p:nvPr/>
        </p:nvSpPr>
        <p:spPr>
          <a:xfrm>
            <a:off x="4690872" y="283464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4718304" y="2926080"/>
            <a:ext cx="365760" cy="3657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6086" y="3013862"/>
            <a:ext cx="190195" cy="190195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5157216" y="2907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47" name="Text 38"/>
          <p:cNvSpPr txBox="1"/>
          <p:nvPr/>
        </p:nvSpPr>
        <p:spPr>
          <a:xfrm>
            <a:off x="4736592" y="3401568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 management, financial and compliance platforms.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6711696" y="2834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6775704" y="283464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DealGuard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more reliable, scalable, secure and useful for real-world M&amp;A teams.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DealGuard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– AI Powered M&amp;A Due Diligence Platform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1034</Words>
  <Application>Microsoft Office PowerPoint</Application>
  <PresentationFormat>On-screen Show (16:9)</PresentationFormat>
  <Paragraphs>237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AcquiSense</dc:title>
  <dc:subject>PptxGenJS Presentation</dc:subject>
  <dc:creator>PptxGenJS</dc:creator>
  <cp:lastModifiedBy>prashant yadav</cp:lastModifiedBy>
  <cp:revision>5</cp:revision>
  <dcterms:created xsi:type="dcterms:W3CDTF">2026-10-04T04:22:45Z</dcterms:created>
  <dcterms:modified xsi:type="dcterms:W3CDTF">2026-10-05T10:22:50Z</dcterms:modified>
</cp:coreProperties>
</file>