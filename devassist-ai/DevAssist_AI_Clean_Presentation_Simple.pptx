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384048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731520"/>
            <a:ext cx="999713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2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[ SMART AI ASSISTANT FOR AUTOMATIC CODE REVIEW ]</a:t>
            </a:r>
          </a:p>
          <a:p>
            <a:pPr algn="ctr">
              <a:spcAft>
                <a:spcPts val="1000"/>
              </a:spcAft>
              <a:defRPr sz="4600" b="1">
                <a:solidFill>
                  <a:srgbClr val="F8FAFC"/>
                </a:solidFill>
                <a:latin typeface="Segoe UI"/>
              </a:defRPr>
            </a:pPr>
            <a:r>
              <a:t>DevAssist AI</a:t>
            </a:r>
          </a:p>
          <a:p>
            <a:pPr algn="ctr">
              <a:defRPr sz="1600" b="0">
                <a:solidFill>
                  <a:srgbClr val="6366F1"/>
                </a:solidFill>
                <a:latin typeface="Segoe UI"/>
              </a:defRPr>
            </a:pPr>
            <a:r>
              <a:t>Fast Bug Detection, Full Project Understanding, and 1-Click Fixes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4846320"/>
            <a:ext cx="233172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TEAM MEMBERS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Atharv Jain</a:t>
            </a:r>
            <a:br/>
            <a:r>
              <a:t>Yashvardhan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48456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8456" y="4846320"/>
            <a:ext cx="23317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UNIVERSITY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BML Munjal</a:t>
            </a:r>
            <a:br/>
            <a:r>
              <a:t>University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4846320"/>
            <a:ext cx="23317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A855F7"/>
                </a:solidFill>
                <a:latin typeface="Segoe UI"/>
              </a:defRPr>
            </a:pPr>
            <a:r>
              <a:t>COURSE / SUBJECT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AI DevOps</a:t>
            </a:r>
            <a:br/>
            <a:r>
              <a:t>(Automated Review)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50808" y="4846320"/>
            <a:ext cx="2331720" cy="13716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50808" y="4846320"/>
            <a:ext cx="23317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5029200"/>
            <a:ext cx="2002536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FACULTY MENTOR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Mr. Naveen Singh</a:t>
            </a:r>
            <a:br/>
            <a:r>
              <a:t>Academic Advisor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BACKGROUND &amp;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Problem → Goal: Why Do Teams Need DevAssist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46634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The Real Problem</a:t>
            </a:r>
          </a:p>
          <a:p>
            <a:pPr>
              <a:spcAft>
                <a:spcPts val="1400"/>
              </a:spcAft>
              <a:defRPr sz="1050">
                <a:solidFill>
                  <a:srgbClr val="F43F5E"/>
                </a:solidFill>
                <a:latin typeface="Segoe UI"/>
              </a:defRPr>
            </a:pPr>
            <a:r>
              <a:t>Manual Code Reviews Are Slow, Tiring, and Miss Hidden Bugs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Long Review Delays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Senior developers spend 20%+ of their day reviewing code line-by-line, causing major delays in releasing features.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Too Many Programming Languages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Modern projects combine Python, JavaScript, Go, and SQL. Nobody is an expert in every language.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Hidden Ripple Effects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Changing a single shared function in one file can quietly break 10+ other files without anyone realizing.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Wasted Time on Tiny Details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Engineers spend hours debating formatting, spacing, and commas instead of finding critical security holes.</a:t>
            </a:r>
          </a:p>
          <a:p>
            <a:pPr>
              <a:spcAft>
                <a:spcPts val="100"/>
              </a:spcAft>
              <a:defRPr sz="1100" b="1">
                <a:solidFill>
                  <a:srgbClr val="F8FAFC"/>
                </a:solidFill>
                <a:latin typeface="Segoe UI"/>
              </a:defRPr>
            </a:pPr>
            <a:r>
              <a:t>❌  Noisy, Fake AI Warnings</a:t>
            </a:r>
          </a:p>
          <a:p>
            <a:pPr>
              <a:spcAft>
                <a:spcPts val="7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Generic AI tools spam pull requests with false alarms, wrong line numbers, and unhelpful advice.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0116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82496"/>
            <a:ext cx="4754880" cy="1627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Our Goal &amp; Mission</a:t>
            </a:r>
          </a:p>
          <a:p>
            <a:pPr>
              <a:spcAft>
                <a:spcPts val="800"/>
              </a:spcAft>
              <a:defRPr sz="1050">
                <a:solidFill>
                  <a:srgbClr val="10B981"/>
                </a:solidFill>
                <a:latin typeface="Segoe UI"/>
              </a:defRPr>
            </a:pPr>
            <a:r>
              <a:t>Fast, Accurate, and Trustworthy AI Code Reviews</a:t>
            </a:r>
          </a:p>
          <a:p>
            <a:pPr>
              <a:lnSpc>
                <a:spcPct val="120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DevAssist AI automates the code review process. When a developer creates a pull request, the AI reads the changes, understands the entire project, spots dangerous bugs, suggests tested 1-click fixes, and writes clear summaries—saving engineering teams hours every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378561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0EA5E9"/>
                </a:solidFill>
                <a:latin typeface="Segoe UI"/>
              </a:defRPr>
            </a:pPr>
            <a:r>
              <a:t>⚡ FAST REVIEWS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Delivers complete, thorough reviews in under 60 seconds so developers never wait.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365760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9992" y="378561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🧠 3-STEP AI CHECKS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Summarizes, finds bugs, and verifies accuracy with multiple checks to prevent mistakes.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98348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511149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A855F7"/>
                </a:solidFill>
                <a:latin typeface="Segoe UI"/>
              </a:defRPr>
            </a:pPr>
            <a:r>
              <a:t>🔍 FULL PROJECT CONTEXT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Traces how files connect together so changes in one place don't break other features.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4983480"/>
            <a:ext cx="2514600" cy="12344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9992" y="5111496"/>
            <a:ext cx="2185416" cy="9784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👤 HUMAN STAYS IN CHARGE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The AI gives smart suggestions, but human developers always have the final say to merge.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Our Approach: A Team of Specialized AI Assistants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Change Summarizer</a:t>
            </a:r>
          </a:p>
          <a:p>
            <a:pPr>
              <a:spcAft>
                <a:spcPts val="400"/>
              </a:spcAft>
              <a:defRPr sz="950" b="1">
                <a:solidFill>
                  <a:srgbClr val="0EA5E9"/>
                </a:solidFill>
                <a:latin typeface="Consolas"/>
              </a:defRPr>
            </a:pPr>
            <a:r>
              <a:t>Powered by: Fast AI (Gemini)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Quickly reads the pull request changes and creates a neat, easy summary of what was modified.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4592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Deep Bug Hunter</a:t>
            </a:r>
          </a:p>
          <a:p>
            <a:pPr>
              <a:spcAft>
                <a:spcPts val="400"/>
              </a:spcAft>
              <a:defRPr sz="950" b="1">
                <a:solidFill>
                  <a:srgbClr val="6366F1"/>
                </a:solidFill>
                <a:latin typeface="Consolas"/>
              </a:defRPr>
            </a:pPr>
            <a:r>
              <a:t>Powered by: Deep AI (Claude 3.5)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Carefully inspects the code for logic errors, security flaws, crashes, and drafts working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Accuracy Checker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Consolas"/>
              </a:defRPr>
            </a:pPr>
            <a:r>
              <a:t>Powered by: Fast AI (Gemini)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Double-checks every finding. Automatically drops weak or uncertain warnings to prevent spam.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546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15468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Dependency Map</a:t>
            </a:r>
          </a:p>
          <a:p>
            <a:pPr>
              <a:spcAft>
                <a:spcPts val="400"/>
              </a:spcAft>
              <a:defRPr sz="950" b="1">
                <a:solidFill>
                  <a:srgbClr val="A855F7"/>
                </a:solidFill>
                <a:latin typeface="Consolas"/>
              </a:defRPr>
            </a:pPr>
            <a:r>
              <a:t>Powered by: CodeGraph Parser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Traces which functions call each other so you know what other parts of the project might break.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1546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315468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33756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5. Smart Code Search</a:t>
            </a:r>
          </a:p>
          <a:p>
            <a:pPr>
              <a:spcAft>
                <a:spcPts val="400"/>
              </a:spcAft>
              <a:defRPr sz="950" b="1">
                <a:solidFill>
                  <a:srgbClr val="0EA5E9"/>
                </a:solidFill>
                <a:latin typeface="Consolas"/>
              </a:defRPr>
            </a:pPr>
            <a:r>
              <a:t>Powered by: Hybrid Search (RAG)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Instantly finds related functions and data models from anywhere in the codebase for full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15468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0" y="315468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33756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Standard Linters</a:t>
            </a:r>
          </a:p>
          <a:p>
            <a:pPr>
              <a:spcAft>
                <a:spcPts val="400"/>
              </a:spcAft>
              <a:defRPr sz="950" b="1">
                <a:solidFill>
                  <a:srgbClr val="F59E0B"/>
                </a:solidFill>
                <a:latin typeface="Consolas"/>
              </a:defRPr>
            </a:pPr>
            <a:r>
              <a:t>Powered by: Ruff, Pylint, ESLint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Runs standard industry tools to catch syntax errors, unused imports, and styling mistakes.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484632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2920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7. Safe Test Sandbox</a:t>
            </a:r>
          </a:p>
          <a:p>
            <a:pPr>
              <a:spcAft>
                <a:spcPts val="400"/>
              </a:spcAft>
              <a:defRPr sz="950" b="1">
                <a:solidFill>
                  <a:srgbClr val="F43F5E"/>
                </a:solidFill>
                <a:latin typeface="Consolas"/>
              </a:defRPr>
            </a:pPr>
            <a:r>
              <a:t>Powered by: Isolated Docker Box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Runs dynamic validation tests inside a secure locked box without any risk to the main computer.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4846320"/>
            <a:ext cx="33832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0" y="502920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Chat Assistant</a:t>
            </a:r>
          </a:p>
          <a:p>
            <a:pPr>
              <a:spcAft>
                <a:spcPts val="400"/>
              </a:spcAft>
              <a:defRPr sz="950" b="1">
                <a:solidFill>
                  <a:srgbClr val="6366F1"/>
                </a:solidFill>
                <a:latin typeface="Consolas"/>
              </a:defRPr>
            </a:pPr>
            <a:r>
              <a:t>Powered by: Multi-AI Router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Developers can reply to any comment on GitHub, and the AI answers follow-up questions directly.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4846320"/>
            <a:ext cx="3383280" cy="14630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20" y="484632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5029200"/>
            <a:ext cx="301752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9. Auto-Documentation</a:t>
            </a:r>
          </a:p>
          <a:p>
            <a:pPr>
              <a:spcAft>
                <a:spcPts val="400"/>
              </a:spcAft>
              <a:defRPr sz="950" b="1">
                <a:solidFill>
                  <a:srgbClr val="10B981"/>
                </a:solidFill>
                <a:latin typeface="Consolas"/>
              </a:defRPr>
            </a:pPr>
            <a:r>
              <a:t>Powered by: Doc Writer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Automatically writes clean documentation and code comments once a pull request is approved.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STEP-BY-STEP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Step-by-Step: How a Code Review Happens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1460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1. PR is Opened</a:t>
            </a:r>
          </a:p>
          <a:p>
            <a:pPr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GitHub or GitLab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A developer submits new code changes for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5576" y="1463040"/>
            <a:ext cx="25146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2. Instant Pickup</a:t>
            </a:r>
          </a:p>
          <a:p>
            <a:pPr>
              <a:spcAft>
                <a:spcPts val="4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Fast Task Queue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DevAssist AI immediately starts a background task in seconds.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463040"/>
            <a:ext cx="251460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3. Map Connections</a:t>
            </a:r>
          </a:p>
          <a:p>
            <a:pPr>
              <a:spcAft>
                <a:spcPts val="400"/>
              </a:spcAft>
              <a:defRPr sz="900" b="1">
                <a:solidFill>
                  <a:srgbClr val="A855F7"/>
                </a:solidFill>
                <a:latin typeface="Segoe UI"/>
              </a:defRPr>
            </a:pPr>
            <a:r>
              <a:t>Dependency Scanner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Checks which other files and functions touch this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46304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3688" y="146304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64592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4. Gather Context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Smart Code Search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Pulls related helper functions and types across the repo.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251460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5. Summarize Scope</a:t>
            </a:r>
          </a:p>
          <a:p>
            <a:pPr>
              <a:spcAft>
                <a:spcPts val="400"/>
              </a:spcAft>
              <a:defRPr sz="900" b="1">
                <a:solidFill>
                  <a:srgbClr val="0EA5E9"/>
                </a:solidFill>
                <a:latin typeface="Segoe UI"/>
              </a:defRPr>
            </a:pPr>
            <a:r>
              <a:t>Fast AI Summary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Creates a concise overview of what this pull request changes.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5576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465576" y="3246120"/>
            <a:ext cx="25146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0168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6. Find Real Bugs</a:t>
            </a:r>
          </a:p>
          <a:p>
            <a:pPr>
              <a:spcAft>
                <a:spcPts val="400"/>
              </a:spcAft>
              <a:defRPr sz="900" b="1">
                <a:solidFill>
                  <a:srgbClr val="6366F1"/>
                </a:solidFill>
                <a:latin typeface="Segoe UI"/>
              </a:defRPr>
            </a:pPr>
            <a:r>
              <a:t>Deep Logic Inspection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Spots security vulnerabilities, logic flaws, and drafts fixes.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9632" y="3246120"/>
            <a:ext cx="251460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4224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7. Verify Findings</a:t>
            </a:r>
          </a:p>
          <a:p>
            <a:pPr>
              <a:spcAft>
                <a:spcPts val="400"/>
              </a:spcAft>
              <a:defRPr sz="900" b="1">
                <a:solidFill>
                  <a:srgbClr val="F59E0B"/>
                </a:solidFill>
                <a:latin typeface="Segoe UI"/>
              </a:defRPr>
            </a:pPr>
            <a:r>
              <a:t>Accuracy Filter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Drops low-confidence warnings and verifies exact line numbers.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33688" y="3246120"/>
            <a:ext cx="2514600" cy="1554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33688" y="324612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3429000"/>
            <a:ext cx="2185416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8. Post on GitHub</a:t>
            </a:r>
          </a:p>
          <a:p>
            <a:pPr>
              <a:spcAft>
                <a:spcPts val="400"/>
              </a:spcAft>
              <a:defRPr sz="900" b="1">
                <a:solidFill>
                  <a:srgbClr val="10B981"/>
                </a:solidFill>
                <a:latin typeface="Segoe UI"/>
              </a:defRPr>
            </a:pPr>
            <a:r>
              <a:t>Direct PR Comments</a:t>
            </a:r>
          </a:p>
          <a:p>
            <a:pPr>
              <a:lnSpc>
                <a:spcPct val="115000"/>
              </a:lnSpc>
              <a:defRPr sz="850">
                <a:solidFill>
                  <a:srgbClr val="94A3B8"/>
                </a:solidFill>
                <a:latin typeface="Segoe UI"/>
              </a:defRPr>
            </a:pPr>
            <a:r>
              <a:t>Posts inline suggestions, quality scores, and full summary.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74920"/>
            <a:ext cx="3383280" cy="12801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202936"/>
            <a:ext cx="3054096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Understands Real Code Structure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Reads complete functions and classes as whole units, not chopped-up random text lines.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98264" y="5074920"/>
            <a:ext cx="3383280" cy="12801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62856" y="5202936"/>
            <a:ext cx="3054096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Smooth Background Speed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Runs all reviews in the background so developers never experience delays or frozen screens.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5074920"/>
            <a:ext cx="3383280" cy="12801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5202936"/>
            <a:ext cx="3054096" cy="1024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Live Progress Updates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Watch the review advance step-by-step on the web dashboard in real-time as it finishes.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VERIFICATION &amp;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How We Ensure Quality: Filtering Bugs &amp; Scoring PRs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82496"/>
            <a:ext cx="298094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Ripple Effect Analysis</a:t>
            </a:r>
          </a:p>
          <a:p>
            <a:pPr>
              <a:spcAft>
                <a:spcPts val="1200"/>
              </a:spcAft>
              <a:defRPr sz="1000">
                <a:solidFill>
                  <a:srgbClr val="F43F5E"/>
                </a:solidFill>
                <a:latin typeface="Segoe UI"/>
              </a:defRPr>
            </a:pPr>
            <a:r>
              <a:t>Seeing What Else Could Break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Changed Code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Example: A login or authentication function is modified.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Tracing Callers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The system scans all files to see what calls that function.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Affected Endpoints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Finds all 14 API routes and screens that depend on it.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Risk Warning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Flags a 'High Ripple Effect' so engineers test carefully.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• Real Benefit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Stops unexpected breakages before code reaches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82496"/>
            <a:ext cx="298094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The Accuracy Filter</a:t>
            </a:r>
          </a:p>
          <a:p>
            <a:pPr>
              <a:spcAft>
                <a:spcPts val="1200"/>
              </a:spcAft>
              <a:defRPr sz="1000">
                <a:solidFill>
                  <a:srgbClr val="F59E0B"/>
                </a:solidFill>
                <a:latin typeface="Segoe UI"/>
              </a:defRPr>
            </a:pPr>
            <a:r>
              <a:t>Stopping False Alarms &amp; Hallucinations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Correct Line Numbers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Makes sure the reported issue is actually on the changed lines.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Working Code Fixes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Verifies that suggested code fixes have valid, working syntax.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Confidence Rating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Rates how certain the AI is about the bug from 0% to 100%.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Drops Weak Alerts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Throws away any warning that scores below 60% confidence.</a:t>
            </a:r>
          </a:p>
          <a:p>
            <a:pPr>
              <a:spcAft>
                <a:spcPts val="1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✔ No Repeated Spam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Never re-posts the same comment twice across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2980944" cy="4553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Simple PR Quality Score</a:t>
            </a:r>
          </a:p>
          <a:p>
            <a:pPr>
              <a:spcAft>
                <a:spcPts val="1200"/>
              </a:spcAft>
              <a:defRPr sz="1000">
                <a:solidFill>
                  <a:srgbClr val="10B981"/>
                </a:solidFill>
                <a:latin typeface="Segoe UI"/>
              </a:defRPr>
            </a:pPr>
            <a:r>
              <a:t>A Clear 0 to 10 Health Rating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🔴 Critical Bugs (-2.0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Security risks, data corruption, app crashes.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🟡 Warnings (-0.5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Missing timeouts, slow queries, unhandled errors.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🔵 Helpful Notes (-0.1 pts)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Missing comments, naming cleanup, minor polish.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Clear Score (0 to 10)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Example: 🟢 8.5/10 lets the team know code health at a glance.</a:t>
            </a:r>
          </a:p>
          <a:p>
            <a:pPr>
              <a:spcAft>
                <a:spcPts val="100"/>
              </a:spcAft>
              <a:defRPr sz="1050" b="1">
                <a:solidFill>
                  <a:srgbClr val="F8FAFC"/>
                </a:solidFill>
                <a:latin typeface="Segoe UI"/>
              </a:defRPr>
            </a:pPr>
            <a:r>
              <a:t>Developer in Control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Engineers can accept fixes, dismiss notes, or merge.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MODERN &amp; RELIABLE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Under the Hood: Technologies Powering DevAssist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1460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Modern Web Dashboard</a:t>
            </a:r>
          </a:p>
          <a:p>
            <a:pPr>
              <a:spcAft>
                <a:spcPts val="10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Clean &amp; Responsive UI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Framework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Next.js 16 &amp; React 19 (Fast page loading)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Code Diff Viewer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Interactive side-by-side view with highlighting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Visual Diagrams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Interactive node maps showing file connections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Flowcharts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Live-rendered Mermaid system flowcharts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User Login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Secure user authentication and workspace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5576" y="1463040"/>
            <a:ext cx="251460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Fast Async Backend</a:t>
            </a:r>
          </a:p>
          <a:p>
            <a:pPr>
              <a:spcAft>
                <a:spcPts val="10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Built for High Performance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API Server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FastAPI (Lightweight, lightning-fast Python API)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Task Queue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Celery &amp; Redis (Runs heavy reviews in background)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Real-Time Events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Live streaming from server to browser without lag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Database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PostgreSQL &amp; SQLite (Saves PRs, reviews, &amp; history)</a:t>
            </a:r>
          </a:p>
          <a:p>
            <a:pPr>
              <a:spcAft>
                <a:spcPts val="1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Auto-Updates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Automated database tools prevent data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9632" y="1463040"/>
            <a:ext cx="251460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Multi-AI Brain</a:t>
            </a:r>
          </a:p>
          <a:p>
            <a:pPr>
              <a:spcAft>
                <a:spcPts val="10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Reliable Multi-Model System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Deep Reasoning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Claude 3.5 Sonnet &amp; GPT-4o for complex bug finding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Fast Summaries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Google Gemini 2.0 Flash for instant reading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Backup Chain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Auto-switches to backup AI if primary model fails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Smart Search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High-speed vector database (FAISS) + keyword search</a:t>
            </a:r>
          </a:p>
          <a:p>
            <a:pPr>
              <a:spcAft>
                <a:spcPts val="1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Best-Match Fusion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Combines keywords and meaning for accurate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463040"/>
            <a:ext cx="251460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33688" y="1463040"/>
            <a:ext cx="25146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664208"/>
            <a:ext cx="2185416" cy="45902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Safe Infrastructure</a:t>
            </a:r>
          </a:p>
          <a:p>
            <a:pPr>
              <a:spcAft>
                <a:spcPts val="10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Containerized &amp; Protected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Containers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Docker &amp; Docker Compose (Runs anywhere in 1 click)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Safe Sandbox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Runs test scripts inside an isolated locked container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Zero-Risk Security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No internet access, cannot modify or damage host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Git Integration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Direct webhooks for GitHub and GitLab workflows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Industry Linters</a:t>
            </a:r>
          </a:p>
          <a:p>
            <a:pPr>
              <a:spcAft>
                <a:spcPts val="500"/>
              </a:spcAft>
              <a:defRPr sz="850">
                <a:solidFill>
                  <a:srgbClr val="F8FAFC"/>
                </a:solidFill>
                <a:latin typeface="Segoe UI"/>
              </a:defRPr>
            </a:pPr>
            <a:r>
              <a:t>Runs Ruff, ESLint, Bandit, and Mypy in parallel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USER EXPERIENCE &amp;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Where Developers Use It: Web Dashboard &amp;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466344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Web Dashboard Experience</a:t>
            </a:r>
          </a:p>
          <a:p>
            <a:pPr>
              <a:spcAft>
                <a:spcPts val="1400"/>
              </a:spcAft>
              <a:defRPr sz="1050">
                <a:solidFill>
                  <a:srgbClr val="0EA5E9"/>
                </a:solidFill>
                <a:latin typeface="Segoe UI"/>
              </a:defRPr>
            </a:pPr>
            <a:r>
              <a:t>Central Command Center for Your Projects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Project Health Dashboard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See review speed, bug trends, and overall code quality over time.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Visual File Connection Map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Interactive diagram showing which files were modified and what else they affect.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Chapter-by-Chapter Review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Splits big 50-file pull requests into easy logical chapters so reviews aren't overwhelming.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System Architecture Diagrams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Automatically generates visual flowcharts showing how data moves through the new code.</a:t>
            </a:r>
          </a:p>
          <a:p>
            <a:pPr>
              <a:spcAft>
                <a:spcPts val="1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📊  Ask AI About Your Code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Search the entire codebase in plain English to find functions, models, and explanations.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93776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2120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00784"/>
            <a:ext cx="4754880" cy="4517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8FAFC"/>
                </a:solidFill>
                <a:latin typeface="Segoe UI"/>
              </a:defRPr>
            </a:pPr>
            <a:r>
              <a:t>GitHub &amp; GitLab Experience</a:t>
            </a:r>
          </a:p>
          <a:p>
            <a:pPr>
              <a:spcAft>
                <a:spcPts val="1400"/>
              </a:spcAft>
              <a:defRPr sz="1050">
                <a:solidFill>
                  <a:srgbClr val="6366F1"/>
                </a:solidFill>
                <a:latin typeface="Segoe UI"/>
              </a:defRPr>
            </a:pPr>
            <a:r>
              <a:t>Built Right Into Your Normal Daily Workflow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Line-by-Line Review Comments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Helpful, clear explanations right on the exact lines where issues are found.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1-Click Code Fixes (```suggestion)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Click 'Apply Suggestion' on GitHub to instantly accept and commit the fix without typing.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Clear Summary Walkthrough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A neat table at the top of the PR summarizing all changes, files, and impact.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Visual Quality Scorecard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A simple badge (e.g., 🟢 9.0/10) showing PR readiness and bug counts.</a:t>
            </a:r>
          </a:p>
          <a:p>
            <a:pPr>
              <a:spcAft>
                <a:spcPts val="1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🤖  Chat Directly on Comments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Reply to any bot comment to ask 'Why is this better?' or request another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REAL PRODUCTIVITY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Before vs After: How DevAssist AI Saves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475488"/>
          </a:xfrm>
          <a:prstGeom prst="roundRect">
            <a:avLst/>
          </a:prstGeom>
          <a:solidFill>
            <a:srgbClr val="24121A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846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F43F5E"/>
                </a:solidFill>
                <a:latin typeface="Segoe UI"/>
              </a:defRPr>
            </a:pPr>
            <a:r>
              <a:t>❌  Traditional Manual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75488"/>
          </a:xfrm>
          <a:prstGeom prst="roundRect">
            <a:avLst/>
          </a:prstGeom>
          <a:solidFill>
            <a:srgbClr val="10241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⚡  With DevAssist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57400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148840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Reading raw code line-by-line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Developers read isolated code diffs without knowing helper functions in other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57400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148840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Instant full project context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AI automatically pulls in related files and helper functions for full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44368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035808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Missing hidden ripple effects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Accidental breakages in other files are discovered only after staging or production crashes.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44368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3035808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Automatic connection mapping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Instantly maps all callers and warns if changing a function breaks other parts of the project.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31336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922776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Arguing over formatting and commas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Reviewers waste time pointing out indentation and missing imports instead of core logic.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31336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922776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Automated style cleanup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linters catch style issues immediately, keeping human focus on real bugs.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18304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809744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Spammed by noisy AI warnings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Basic AI bots post dozens of messy comments, many of which are fake or unhelpful.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718304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4809744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Strict accuracy filtering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A verification filter drops weak warnings, keeping only high-confidence, helpful feedback.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605272"/>
            <a:ext cx="512064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5696712"/>
            <a:ext cx="48280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Outdated or forgotten documentation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Engineers rush to ship features, leaving READMEs and code comments outdated.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5605272"/>
            <a:ext cx="5212080" cy="7772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5696712"/>
            <a:ext cx="491947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Auto-written documentation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The AI writes clean documentation and comments automatically as soon as code is merged.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MEASURABLE 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Key Results: Why Teams Love DevAssist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993392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0EA5E9"/>
                </a:solidFill>
                <a:latin typeface="Segoe UI"/>
              </a:defRPr>
            </a:pPr>
            <a:r>
              <a:t>70%+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FASTER REVIEWS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Background processing completes thorough reviews in under 60 seconds instead of hours of waiting.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554480"/>
            <a:ext cx="199339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10B981"/>
                </a:solidFill>
                <a:latin typeface="Segoe UI"/>
              </a:defRPr>
            </a:pPr>
            <a:r>
              <a:t>&lt; 5%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FALSE ALARM RATE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Multi-step verification removes noisy hallucinations, giving developers advice they can actually trust.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84064" y="1554480"/>
            <a:ext cx="1993392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6366F1"/>
                </a:solidFill>
                <a:latin typeface="Segoe UI"/>
              </a:defRPr>
            </a:pPr>
            <a:r>
              <a:t>3 LEVELS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DEPENDENCY DEPTH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Traces function connections up to 3 levels deep across the whole project to catch breaking changes before merge.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0336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60336" y="1554480"/>
            <a:ext cx="1993392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A855F7"/>
                </a:solidFill>
                <a:latin typeface="Segoe UI"/>
              </a:defRPr>
            </a:pPr>
            <a:r>
              <a:t>99.9%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RELIABLE UPTIME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If one AI provider is down or slow, the system automatically switches to a backup model without failing.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554480"/>
            <a:ext cx="1993392" cy="47548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436608" y="1554480"/>
            <a:ext cx="199339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1837944"/>
            <a:ext cx="1700784" cy="42428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3200" b="1">
                <a:solidFill>
                  <a:srgbClr val="F59E0B"/>
                </a:solidFill>
                <a:latin typeface="Segoe UI"/>
              </a:defRPr>
            </a:pPr>
            <a:r>
              <a:t>1-CLICK</a:t>
            </a:r>
          </a:p>
          <a:p>
            <a:pPr algn="ctr">
              <a:spcAft>
                <a:spcPts val="16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INSTANT CODE FIXES</a:t>
            </a:r>
          </a:p>
          <a:p>
            <a:pPr>
              <a:lnSpc>
                <a:spcPct val="125000"/>
              </a:lnSpc>
              <a:defRPr sz="950">
                <a:solidFill>
                  <a:srgbClr val="94A3B8"/>
                </a:solidFill>
                <a:latin typeface="Segoe UI"/>
              </a:defRPr>
            </a:pPr>
            <a:r>
              <a:t>Provides ready-to-use code suggestions that developers can accept directly inside GitHub with one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DEPLOYMENT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How It Runs: Safe, Reliable, and Easy to Deploy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64592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1. Push Code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Push to GitHub or GitLab.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42032" y="1463040"/>
            <a:ext cx="16459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2. Build Image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Package in Docker containers.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52544" y="1463040"/>
            <a:ext cx="16459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3. Start Services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Run Redis, DB, API &amp; worker.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3056" y="1463040"/>
            <a:ext cx="16459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2784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4. Webhook Ingress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Securely receive PR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3568" y="1463040"/>
            <a:ext cx="164592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5. Safe Sandbox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Run tests in locked container.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463040"/>
            <a:ext cx="1645920" cy="96012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84080" y="1463040"/>
            <a:ext cx="16459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93808" y="1609344"/>
            <a:ext cx="142646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8FAFC"/>
                </a:solidFill>
                <a:latin typeface="Segoe UI"/>
              </a:defRPr>
            </a:pPr>
            <a:r>
              <a:t>6. Live Streaming</a:t>
            </a:r>
          </a:p>
          <a:p>
            <a:pPr>
              <a:defRPr sz="850">
                <a:solidFill>
                  <a:srgbClr val="94A3B8"/>
                </a:solidFill>
                <a:latin typeface="Segoe UI"/>
              </a:defRPr>
            </a:pPr>
            <a:r>
              <a:t>Stream updates to dashboard.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606040"/>
            <a:ext cx="3383280" cy="3840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1520" y="260604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2825496"/>
            <a:ext cx="3017520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Complete Docker Setup</a:t>
            </a:r>
          </a:p>
          <a:p>
            <a:pPr>
              <a:spcAft>
                <a:spcPts val="1000"/>
              </a:spcAft>
              <a:defRPr sz="950">
                <a:solidFill>
                  <a:srgbClr val="0EA5E9"/>
                </a:solidFill>
                <a:latin typeface="Segoe UI"/>
              </a:defRPr>
            </a:pPr>
            <a:r>
              <a:t>One Simple Command to Start Everything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Redis 7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Handles fast task queues and real-time live event streaming.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PostgreSQL 15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Securely stores repositories, review logs, and bug history.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Celery Worker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Runs heavy AI reviews smoothly in the background without lag.</a:t>
            </a:r>
          </a:p>
          <a:p>
            <a:pPr>
              <a:spcAft>
                <a:spcPts val="1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• FastAPI Server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Lightning-fast API server with secure GitHub webhook verification.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98264" y="2606040"/>
            <a:ext cx="3383280" cy="3840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98264" y="260604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81144" y="2825496"/>
            <a:ext cx="3017520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Safe &amp; Secure Testing Sandbox</a:t>
            </a:r>
          </a:p>
          <a:p>
            <a:pPr>
              <a:spcAft>
                <a:spcPts val="1000"/>
              </a:spcAft>
              <a:defRPr sz="950">
                <a:solidFill>
                  <a:srgbClr val="F43F5E"/>
                </a:solidFill>
                <a:latin typeface="Segoe UI"/>
              </a:defRPr>
            </a:pPr>
            <a:r>
              <a:t>Zero Risk to Your Host Machines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Isolated Box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Test scripts run in a locked container with zero internet access.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Locked Permissions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Cannot access host files or sensitive operating system data.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Read-Only Code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Cloned code cannot be corrupted or accidentally modified.</a:t>
            </a:r>
          </a:p>
          <a:p>
            <a:pPr>
              <a:spcAft>
                <a:spcPts val="1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• Auto-Stop Timeout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Automatically stops any script taking longer than 30 seconds.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2606040"/>
            <a:ext cx="3383280" cy="384048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65008" y="2606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7888" y="2825496"/>
            <a:ext cx="3017520" cy="3456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Monitoring &amp; Reliability</a:t>
            </a:r>
          </a:p>
          <a:p>
            <a:pPr>
              <a:spcAft>
                <a:spcPts val="1000"/>
              </a:spcAft>
              <a:defRPr sz="950">
                <a:solidFill>
                  <a:srgbClr val="10B981"/>
                </a:solidFill>
                <a:latin typeface="Segoe UI"/>
              </a:defRPr>
            </a:pPr>
            <a:r>
              <a:t>Always Know System Health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Live Health Checks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Constant monitoring of database and AI service connectivity.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Live UI Progress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Watch reviews advance step-by-step on the web dashboard.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Clean DB Updates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Automated database tools prevent downtime during updates.</a:t>
            </a:r>
          </a:p>
          <a:p>
            <a:pPr>
              <a:spcAft>
                <a:spcPts val="1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• Complete Audit Trail</a:t>
            </a:r>
          </a:p>
          <a:p>
            <a:pPr>
              <a:spcAft>
                <a:spcPts val="400"/>
              </a:spcAft>
              <a:defRPr sz="850">
                <a:solidFill>
                  <a:srgbClr val="94A3B8"/>
                </a:solidFill>
                <a:latin typeface="Segoe UI"/>
              </a:defRPr>
            </a:pPr>
            <a:r>
              <a:t>Tracks every review, comment, and developer approval.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651760" cy="292608"/>
          </a:xfrm>
          <a:prstGeom prst="roundRect">
            <a:avLst/>
          </a:prstGeom>
          <a:solidFill>
            <a:srgbClr val="1E2945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/>
          <a:lstStyle/>
          <a:p>
            <a:pPr algn="ctr">
              <a:defRPr sz="1000" b="1">
                <a:solidFill>
                  <a:srgbClr val="0EA5E9"/>
                </a:solidFill>
                <a:latin typeface="Segoe UI"/>
              </a:defRPr>
            </a:pPr>
            <a:r>
              <a:t>FUTURE PLANS &amp;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F8FAFC"/>
                </a:solidFill>
                <a:latin typeface="Segoe UI"/>
              </a:defRPr>
            </a:pPr>
            <a:r>
              <a:t>What's Next: Future Roadmap &amp; Upcoming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11535" y="320040"/>
            <a:ext cx="548640" cy="292608"/>
          </a:xfrm>
          <a:prstGeom prst="roundRect">
            <a:avLst/>
          </a:prstGeom>
          <a:solidFill>
            <a:srgbClr val="1E2945"/>
          </a:solidFill>
          <a:ln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000" b="1">
                <a:solidFill>
                  <a:srgbClr val="94A3B8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26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In-Editor Plugins</a:t>
            </a:r>
          </a:p>
          <a:p>
            <a:pPr>
              <a:spcAft>
                <a:spcPts val="6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VS Code &amp; JetBrains Tools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Get instant AI review feedback right inside your code editor before you even push your code.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1463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98264" y="1463040"/>
            <a:ext cx="338328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645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Self-Healing Bug Fixes</a:t>
            </a:r>
          </a:p>
          <a:p>
            <a:pPr>
              <a:spcAft>
                <a:spcPts val="6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Automated Fix Branches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For simple bugs, the AI creates a dedicated fix branch with verified tests ready for 1-click merge.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463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463040"/>
            <a:ext cx="338328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45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Cross-Project Knowledge</a:t>
            </a:r>
          </a:p>
          <a:p>
            <a:pPr>
              <a:spcAft>
                <a:spcPts val="600"/>
              </a:spcAft>
              <a:defRPr sz="950" b="1">
                <a:solidFill>
                  <a:srgbClr val="A855F7"/>
                </a:solidFill>
                <a:latin typeface="Segoe UI"/>
              </a:defRPr>
            </a:pPr>
            <a:r>
              <a:t>Multi-Repo Support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Connect multiple related projects together to verify shared APIs and microservices.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749040"/>
            <a:ext cx="33832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Custom Team Rules</a:t>
            </a:r>
          </a:p>
          <a:p>
            <a:pPr>
              <a:spcAft>
                <a:spcPts val="6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Company Coding Standards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Teach the AI your team's specific coding guidelines, security policies, and naming conventions.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98264" y="3749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98264" y="3749040"/>
            <a:ext cx="33832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1144" y="3931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Team Permissions &amp; Compliance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  <a:latin typeface="Segoe UI"/>
              </a:defRPr>
            </a:pPr>
            <a:r>
              <a:t>Enterprise Access Control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Add role-based permissions, team workspaces, and exportable security audit reports.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3749040"/>
            <a:ext cx="3383280" cy="20574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65008" y="3749040"/>
            <a:ext cx="33832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3931920"/>
            <a:ext cx="3017520" cy="1746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Automatic Test Generation</a:t>
            </a:r>
          </a:p>
          <a:p>
            <a:pPr>
              <a:spcAft>
                <a:spcPts val="600"/>
              </a:spcAft>
              <a:defRPr sz="950" b="1">
                <a:solidFill>
                  <a:srgbClr val="F43F5E"/>
                </a:solidFill>
                <a:latin typeface="Segoe UI"/>
              </a:defRPr>
            </a:pPr>
            <a:r>
              <a:t>AI-Written Unit Tests</a:t>
            </a:r>
          </a:p>
          <a:p>
            <a:pPr>
              <a:lnSpc>
                <a:spcPct val="115000"/>
              </a:lnSpc>
              <a:defRPr sz="900">
                <a:solidFill>
                  <a:srgbClr val="94A3B8"/>
                </a:solidFill>
                <a:latin typeface="Segoe UI"/>
              </a:defRPr>
            </a:pPr>
            <a:r>
              <a:t>Automatically write unit and integration tests covering newly added code to prevent future regressions.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897880"/>
            <a:ext cx="10728655" cy="59436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6007608"/>
            <a:ext cx="10362895" cy="374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Segoe UI"/>
              </a:defRPr>
            </a:pPr>
            <a:r>
              <a:t>🎯  Our Goal: Make DevAssist AI the smartest, safest, and most helpful code review partner for every software team.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4937760"/>
          </a:xfrm>
          <a:prstGeom prst="roundRect">
            <a:avLst/>
          </a:prstGeom>
          <a:solidFill>
            <a:srgbClr val="121828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7315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853409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6366F1"/>
                </a:solidFill>
                <a:latin typeface="Segoe UI"/>
              </a:defRPr>
            </a:pPr>
            <a:r>
              <a:t>DevAssist AI – Smart, Safe, and Automated Code Review</a:t>
            </a:r>
          </a:p>
          <a:p>
            <a:pPr algn="ctr">
              <a:defRPr sz="1200">
                <a:solidFill>
                  <a:srgbClr val="0EA5E9"/>
                </a:solidFill>
                <a:latin typeface="Segoe UI"/>
              </a:defRPr>
            </a:pPr>
            <a:r>
              <a:t>We welcome your questions, feedback, and live demonstration!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83664" y="3931920"/>
            <a:ext cx="2560320" cy="14630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83664" y="3931920"/>
            <a:ext cx="2560320" cy="5486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20824" y="4133088"/>
            <a:ext cx="2286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0EA5E9"/>
                </a:solidFill>
                <a:latin typeface="Segoe UI"/>
              </a:defRPr>
            </a:pPr>
            <a:r>
              <a:t>PROJECT CREATORS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Atharv Jain</a:t>
            </a:r>
            <a:br/>
            <a:r>
              <a:t>Yashvardhan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AI DevOps Engineering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9744" y="3931920"/>
            <a:ext cx="2560320" cy="14630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09744" y="3931920"/>
            <a:ext cx="2560320" cy="5486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4133088"/>
            <a:ext cx="2286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6366F1"/>
                </a:solidFill>
                <a:latin typeface="Segoe UI"/>
              </a:defRPr>
            </a:pPr>
            <a:r>
              <a:t>INSTITUTION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BML Munjal University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Department of Computer Science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35824" y="3931920"/>
            <a:ext cx="2560320" cy="1463040"/>
          </a:xfrm>
          <a:prstGeom prst="roundRect">
            <a:avLst/>
          </a:prstGeom>
          <a:solidFill>
            <a:srgbClr val="182036"/>
          </a:solidFill>
          <a:ln w="12700">
            <a:solidFill>
              <a:srgbClr val="26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35824" y="3931920"/>
            <a:ext cx="2560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72984" y="4133088"/>
            <a:ext cx="2286000" cy="11155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400"/>
              </a:spcAft>
              <a:defRPr sz="950" b="1">
                <a:solidFill>
                  <a:srgbClr val="10B981"/>
                </a:solidFill>
                <a:latin typeface="Segoe UI"/>
              </a:defRPr>
            </a:pPr>
            <a:r>
              <a:t>FACULTY MENTOR</a:t>
            </a:r>
          </a:p>
          <a:p>
            <a:pPr algn="ctr">
              <a:spcAft>
                <a:spcPts val="200"/>
              </a:spcAft>
              <a:defRPr sz="1200" b="1">
                <a:solidFill>
                  <a:srgbClr val="F8FAFC"/>
                </a:solidFill>
                <a:latin typeface="Segoe UI"/>
              </a:defRPr>
            </a:pPr>
            <a:r>
              <a:t>Mr. Naveen Singh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Project Advisor &amp;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